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78" r:id="rId9"/>
    <p:sldId id="279" r:id="rId10"/>
    <p:sldId id="280" r:id="rId11"/>
    <p:sldId id="28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63F2D-8370-4AD6-9EBD-51F0AABBFB30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05ED82-BD82-4E82-A554-014E47A3E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75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5ED82-BD82-4E82-A554-014E47A3EEE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720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3A8B5F2-715D-5B28-D153-A0E143968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5586" y="1474838"/>
            <a:ext cx="8791575" cy="1130709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Electronics Engineering (SENSE)</a:t>
            </a:r>
            <a:br>
              <a:rPr lang="en-US" dirty="0"/>
            </a:br>
            <a:endParaRPr lang="en-IN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69307D6-1033-01A7-CBC5-A6439B67D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586" y="2485589"/>
            <a:ext cx="9065340" cy="1655762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FPGA-Based AES Encryption and Decryption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</a:t>
            </a:r>
          </a:p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D3FF79-477E-2C52-0001-BDDC36991425}"/>
              </a:ext>
            </a:extLst>
          </p:cNvPr>
          <p:cNvSpPr/>
          <p:nvPr/>
        </p:nvSpPr>
        <p:spPr>
          <a:xfrm>
            <a:off x="1474839" y="2182761"/>
            <a:ext cx="9792929" cy="1081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44D285-3DD3-B77A-F46C-86FC09008BA6}"/>
              </a:ext>
            </a:extLst>
          </p:cNvPr>
          <p:cNvPicPr/>
          <p:nvPr/>
        </p:nvPicPr>
        <p:blipFill>
          <a:blip r:embed="rId2"/>
          <a:srcRect/>
          <a:stretch/>
        </p:blipFill>
        <p:spPr bwMode="auto">
          <a:xfrm>
            <a:off x="9221755" y="76845"/>
            <a:ext cx="2892490" cy="857942"/>
          </a:xfrm>
          <a:prstGeom prst="rect">
            <a:avLst/>
          </a:prstGeom>
          <a:noFill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1B21F2-0D34-E597-7B79-B8E9CF6984E2}"/>
              </a:ext>
            </a:extLst>
          </p:cNvPr>
          <p:cNvSpPr txBox="1"/>
          <p:nvPr/>
        </p:nvSpPr>
        <p:spPr>
          <a:xfrm>
            <a:off x="2467897" y="4336025"/>
            <a:ext cx="392307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Boga Vivek - 25MVD1005</a:t>
            </a:r>
          </a:p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Manchem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Sai Kiran - 25MVD1011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Arun Kumar – 25MVD10128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38F53C-5B3E-5835-E2D4-980929783E45}"/>
              </a:ext>
            </a:extLst>
          </p:cNvPr>
          <p:cNvSpPr txBox="1"/>
          <p:nvPr/>
        </p:nvSpPr>
        <p:spPr>
          <a:xfrm>
            <a:off x="7009497" y="4398277"/>
            <a:ext cx="44245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Dr. Augusta Sophy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Beulet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458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4C4F-F279-7BE6-0F20-3101A6E0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91" y="861729"/>
            <a:ext cx="4162714" cy="57800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E8B4F-6FD3-1AB4-2C2E-63A270E51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4" y="2249483"/>
            <a:ext cx="4732985" cy="345322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128-bit AES encryption and decryption system on FPGA.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utilize hardware parallelism to improve speed and efficiency.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secure and real-time data protection for modern applications.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B4E80-012D-118F-6BD9-45529009C11D}"/>
              </a:ext>
            </a:extLst>
          </p:cNvPr>
          <p:cNvSpPr/>
          <p:nvPr/>
        </p:nvSpPr>
        <p:spPr>
          <a:xfrm>
            <a:off x="1144590" y="1592825"/>
            <a:ext cx="10359151" cy="8849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3FB6C-538A-ED31-407F-1D714FA31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313" y="2218229"/>
            <a:ext cx="5332156" cy="3046946"/>
          </a:xfrm>
          <a:prstGeom prst="rect">
            <a:avLst/>
          </a:prstGeom>
          <a:effectLst>
            <a:glow>
              <a:schemeClr val="accent1"/>
            </a:glow>
            <a:softEdge rad="215900"/>
          </a:effectLst>
        </p:spPr>
      </p:pic>
    </p:spTree>
    <p:extLst>
      <p:ext uri="{BB962C8B-B14F-4D97-AF65-F5344CB8AC3E}">
        <p14:creationId xmlns:p14="http://schemas.microsoft.com/office/powerpoint/2010/main" val="279655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27E4-4B92-C644-F8BE-832612846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5693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9E14E3-EC23-738D-D5E1-1582370062AF}"/>
              </a:ext>
            </a:extLst>
          </p:cNvPr>
          <p:cNvSpPr/>
          <p:nvPr/>
        </p:nvSpPr>
        <p:spPr>
          <a:xfrm>
            <a:off x="1141412" y="1691148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A1FA590-F097-C4D7-3D7B-4ED6AAE0C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047927"/>
            <a:ext cx="950922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 (AES)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symmetric block cipher developed by NIST.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Operates on fixed 128-bit data blocks with key sizes of 128, 192, and 256 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confidentiality, integrity, and reliability in data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Extensively used in: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devices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Military and financial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FPGA?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High-speed parallel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hardware resource utilization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encryption/decryption capability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98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393C-3E4E-64E4-6390-3F7F4220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189" y="730023"/>
            <a:ext cx="9906000" cy="109138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62771-8C8B-5584-08AB-CF9C78945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8478" y="1818964"/>
            <a:ext cx="4649783" cy="397682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5ABF99-23BB-7ADF-3BC3-69F3757E0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3798" y="2302801"/>
            <a:ext cx="4731699" cy="4481455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Plaintext block of 128 bits and a 128-bit key.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Expansion: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11 round keys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(1 initial + 10 rounds).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Round (Pre-round):</a:t>
            </a:r>
          </a:p>
          <a:p>
            <a:pPr>
              <a:spcBef>
                <a:spcPts val="0"/>
              </a:spcBef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AddRoundKey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(plaintext ⊕ round key 0).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Rounds (1–9):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round consists of:</a:t>
            </a:r>
          </a:p>
          <a:p>
            <a:pPr>
              <a:spcBef>
                <a:spcPts val="0"/>
              </a:spcBef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SubBytes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(non-linear substitution using S-box).</a:t>
            </a:r>
          </a:p>
          <a:p>
            <a:pPr>
              <a:spcBef>
                <a:spcPts val="0"/>
              </a:spcBef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ShiftRows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(row-wise cyclic shift).</a:t>
            </a:r>
          </a:p>
          <a:p>
            <a:pPr>
              <a:spcBef>
                <a:spcPts val="0"/>
              </a:spcBef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MixColumns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(mixes data within columns for diffusion).</a:t>
            </a:r>
          </a:p>
          <a:p>
            <a:pPr>
              <a:spcBef>
                <a:spcPts val="0"/>
              </a:spcBef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AddRoundKey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(XOR with round key).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Round (Round 10):</a:t>
            </a:r>
          </a:p>
          <a:p>
            <a:pPr>
              <a:spcBef>
                <a:spcPts val="0"/>
              </a:spcBef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SubBytes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ShiftRows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AddRoundKey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MixColumns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here).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Ciphertext (128-bit).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DDA8EF-09D5-9553-1E35-1B6357BBF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4" y="1821784"/>
            <a:ext cx="4646602" cy="408037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08B396-38F9-18E2-E0F0-735C9EBC9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2061" y="2279274"/>
            <a:ext cx="4760906" cy="440666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Ciphertext block of 128 bits and the same 128-bit key.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Expansion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(same round keys, used in reverse order).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Round: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AddRoundKey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(ciphertext ⊕ last round key).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Rounds (1–9):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round consists of: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InvShiftRows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(reverse row shift).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InvSubBytes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(inverse S-box substitution).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AddRoundKey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InvMixColumns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Round: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InvShiftRows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InvSubBytes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AddRoundKey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InvMixColumns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128-bit plaintext.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41B3E7-F1BF-3927-ECEF-5CD3AE0D3B8A}"/>
              </a:ext>
            </a:extLst>
          </p:cNvPr>
          <p:cNvSpPr/>
          <p:nvPr/>
        </p:nvSpPr>
        <p:spPr>
          <a:xfrm>
            <a:off x="1141412" y="1691148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32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BEBA9-48FC-C732-14A7-37E169BE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0866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flow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BF6DD3-BEB9-19D5-F09C-3817859CBCE7}"/>
              </a:ext>
            </a:extLst>
          </p:cNvPr>
          <p:cNvSpPr/>
          <p:nvPr/>
        </p:nvSpPr>
        <p:spPr>
          <a:xfrm>
            <a:off x="1141412" y="1691148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DA62EFE-52CF-1AD1-369B-AA4A924BF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26" y="1959436"/>
            <a:ext cx="8709164" cy="461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604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2EAF-722E-AF83-1060-C40A8FFE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5650"/>
          </a:xfrm>
        </p:spPr>
        <p:txBody>
          <a:bodyPr/>
          <a:lstStyle/>
          <a:p>
            <a:r>
              <a:rPr lang="en-IN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 (Encryption And Decryption)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311A8A-13F2-CCBA-86B6-914E5D12F2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524337"/>
            <a:ext cx="10471467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128-bit plaintext is first arranged into a 4×4 byte matrix called the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matrix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Initial Round, the plaintext matrix is combined with the cipher key using the Add Round Key operation.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of the 9 Main Rounds performs four steps: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SubBytes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ShiftRows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MixColumns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Add Round Key.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SubBytes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step, every byte in the matrix is replaced by a corresponding value from the S-Box.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ShiftRows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 rearranges the bytes by shifting rows cyclically by different offsets.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MixColumns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 mixes the data in each column using a fixed matrix multiplication.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Round includes only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SubBytes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ShiftRows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Add Round Key (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MixColumns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skipped).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Decryption, all these operations are reversed in order using the inverse transformations (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InvShiftRows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InvSubBytes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InvMixColumns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AddRoundKey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8667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9474-2209-44F9-7B8B-72E2AB77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6402"/>
            <a:ext cx="9905998" cy="80715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- BOX </a:t>
            </a:r>
            <a:r>
              <a:rPr lang="en-IN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(Substitution Box)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EB01E-B760-5AE2-EC3D-8F9FEF46B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55406"/>
            <a:ext cx="9905999" cy="5289755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dirty="0"/>
              <a:t>The S-Box is used in both the </a:t>
            </a:r>
            <a:r>
              <a:rPr lang="en-US" dirty="0" err="1"/>
              <a:t>SubBytes</a:t>
            </a:r>
            <a:r>
              <a:rPr lang="en-US" dirty="0"/>
              <a:t> step and key expansion function to perform byte substitution, ensuring that each input byte is replaced with a unique nonlinear output based on predefined lookup values.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AES S-Box is a </a:t>
            </a:r>
            <a:r>
              <a:rPr lang="en-US" b="1" dirty="0"/>
              <a:t>16×16 substitution matrix</a:t>
            </a:r>
            <a:r>
              <a:rPr lang="en-US" dirty="0"/>
              <a:t> that maps each 8-bit input to a unique 8-bit output using algebraic transformations in the finite field GF(2⁸).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dirty="0"/>
          </a:p>
          <a:p>
            <a:pPr marL="0" indent="0" algn="just">
              <a:lnSpc>
                <a:spcPct val="100000"/>
              </a:lnSpc>
              <a:buNone/>
            </a:pPr>
            <a:endParaRPr lang="en-IN" dirty="0"/>
          </a:p>
        </p:txBody>
      </p:sp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D2AEA8CD-243E-D267-4E30-31C4AD6B0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681" y="2974610"/>
            <a:ext cx="9165771" cy="372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2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CDB8-C805-E120-E222-BB5B0D03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00648"/>
            <a:ext cx="9905998" cy="581017"/>
          </a:xfrm>
        </p:spPr>
        <p:txBody>
          <a:bodyPr>
            <a:normAutofit fontScale="90000"/>
          </a:bodyPr>
          <a:lstStyle/>
          <a:p>
            <a:r>
              <a:rPr lang="en-IN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Bytes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9C96D-F76C-067C-E2AD-4F1CCD8C1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934064"/>
            <a:ext cx="10173928" cy="51717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byte in the state matrix is replaced by another byte from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S-Box lookup table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substitution is done individually for all 16 bytes using their hexadecimal values as row and column indices.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number and its numbers&#10;&#10;AI-generated content may be incorrect.">
            <a:extLst>
              <a:ext uri="{FF2B5EF4-FFF2-40B4-BE49-F238E27FC236}">
                <a16:creationId xmlns:a16="http://schemas.microsoft.com/office/drawing/2014/main" id="{577BB1A7-10F2-F2A8-3608-96EDF8622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761" y="2113934"/>
            <a:ext cx="7777315" cy="466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92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35F1-7B5F-9A9B-FCAA-4380F8CB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6992"/>
          </a:xfrm>
        </p:spPr>
        <p:txBody>
          <a:bodyPr/>
          <a:lstStyle/>
          <a:p>
            <a:r>
              <a:rPr lang="en-IN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Rows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386E-01EE-E041-C6E3-0DA9493CD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35510"/>
            <a:ext cx="9905999" cy="435569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step, the first row remains unchanged while the second, third, and fourth rows 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cyclically shifted left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1, 2, and 3 bytes respectively.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operation moves bytes between columns, helping spread data across the matrix.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shift row&#10;&#10;AI-generated content may be incorrect.">
            <a:extLst>
              <a:ext uri="{FF2B5EF4-FFF2-40B4-BE49-F238E27FC236}">
                <a16:creationId xmlns:a16="http://schemas.microsoft.com/office/drawing/2014/main" id="{39346D8B-DEE4-87EE-3CC7-6FC351736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3012665"/>
            <a:ext cx="8131276" cy="335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10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84F3-4E70-4C67-1A75-638C8B3F8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6783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columns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811F4-133D-9481-1536-CB55D002F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86348"/>
            <a:ext cx="9905999" cy="47784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column of the state matrix is treated as a 4-byte vector and multiplied with a fixed matrix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GF(2⁸)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output bytes from each column are linear combinations of the input column bytes, effectively mixing them.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number and equation&#10;&#10;AI-generated content may be incorrect.">
            <a:extLst>
              <a:ext uri="{FF2B5EF4-FFF2-40B4-BE49-F238E27FC236}">
                <a16:creationId xmlns:a16="http://schemas.microsoft.com/office/drawing/2014/main" id="{E3BEC5EE-C6C2-A0EC-95D5-04326999E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079" y="3085178"/>
            <a:ext cx="7000566" cy="335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3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8251-6646-5498-253F-B22736A2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7823"/>
            <a:ext cx="9905998" cy="630179"/>
          </a:xfrm>
        </p:spPr>
        <p:txBody>
          <a:bodyPr/>
          <a:lstStyle/>
          <a:p>
            <a:r>
              <a:rPr lang="en-IN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Expansion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9F497-E3E5-3337-2497-5AEC80CA8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758002"/>
            <a:ext cx="10195182" cy="48079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cipher key is divided into four 32-bit words and expanded into a total of 44 words to generate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keys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encryption rounds.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new word is formed by combining earlier words and passing one through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g() function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performs rotation, byte substitution (S-Box), and addition of a round constant.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algorithm&#10;&#10;AI-generated content may be incorrect.">
            <a:extLst>
              <a:ext uri="{FF2B5EF4-FFF2-40B4-BE49-F238E27FC236}">
                <a16:creationId xmlns:a16="http://schemas.microsoft.com/office/drawing/2014/main" id="{D3F07332-190F-060A-AC3B-21CCFCE8D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86"/>
          <a:stretch>
            <a:fillRect/>
          </a:stretch>
        </p:blipFill>
        <p:spPr>
          <a:xfrm>
            <a:off x="3097162" y="2428568"/>
            <a:ext cx="6164825" cy="410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25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2D8BE-8DF5-EDC9-15A6-687EFBD74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B60F-C5E8-9E5C-5CA7-D4246997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(Encryption)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9B57E5-98A0-5154-FA48-36D2B79187AB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2D0A6BF-D317-18CE-FD35-F9DC3EC5F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47395"/>
            <a:ext cx="1034266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Initial Input St</a:t>
            </a: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age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(Plain text ^ Cipher Key)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DE6546-C83F-8249-25CF-F8FED8D5C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40"/>
          <a:stretch>
            <a:fillRect/>
          </a:stretch>
        </p:blipFill>
        <p:spPr>
          <a:xfrm>
            <a:off x="836611" y="1799303"/>
            <a:ext cx="10716291" cy="495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93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620BC-5757-4733-1A2D-63F29575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3DF3-9C65-601B-48EB-8B06856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(Encryption)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F21B31-7D32-5129-32A9-FD51E414D50C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38F5BA9-5569-0239-A96F-FA15B49F9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47395"/>
            <a:ext cx="1034266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Round 1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Substitute Bytes Operation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38961-32B7-4B07-74C2-D844CC7E1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1716866"/>
            <a:ext cx="10080522" cy="492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71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88D73-E01D-2A55-E6D5-E1674EDC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7C52-5974-4826-6154-E9867766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(Encryption)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348B15-E334-2174-6003-3203D4685AD3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2DDC97F-44A8-4AEB-DC6C-98287205D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47395"/>
            <a:ext cx="1034266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Round 1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Shift Rows Operation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FCB35-B56B-656B-793B-3FB94170C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13"/>
          <a:stretch>
            <a:fillRect/>
          </a:stretch>
        </p:blipFill>
        <p:spPr>
          <a:xfrm>
            <a:off x="1290484" y="1871024"/>
            <a:ext cx="10038735" cy="475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62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C86F3-94EF-9FEA-605B-39260078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21C4-6D40-E149-ACA0-86E66208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(Encryption)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B19E70-A5C2-1691-677F-C976DF2A4894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90EFEB6-3FCE-0652-082C-B0728B2F3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47395"/>
            <a:ext cx="1034266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Round 1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Mix Columns Operation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53FBF-829C-BC63-477F-8D1CC056F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84"/>
          <a:stretch>
            <a:fillRect/>
          </a:stretch>
        </p:blipFill>
        <p:spPr>
          <a:xfrm>
            <a:off x="1209368" y="1907459"/>
            <a:ext cx="10117393" cy="463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84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FEF43-1B23-BA6D-775C-6B7159B4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7D1B-9CAC-B213-0A4D-EEE368AA5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(Encryption)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B4961-F496-1301-BC90-AA5419A7BEE5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49A99F-2E8C-F762-BA27-68D909F70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32006"/>
            <a:ext cx="1034266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200" b="1" dirty="0">
                <a:solidFill>
                  <a:schemeClr val="bg1"/>
                </a:solidFill>
                <a:latin typeface="Arial" panose="020B0604020202020204" pitchFamily="34" charset="0"/>
              </a:rPr>
              <a:t>Round 1 </a:t>
            </a:r>
            <a:r>
              <a:rPr lang="en-US" alt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: Round Key Value For Performing Exor Operation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C9C8F-B8DC-B40C-5CA0-9DB893868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1"/>
          <a:stretch>
            <a:fillRect/>
          </a:stretch>
        </p:blipFill>
        <p:spPr>
          <a:xfrm>
            <a:off x="1310149" y="1923393"/>
            <a:ext cx="9999406" cy="46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44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88FE72-E496-8C53-EC6E-E61F6A597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8832-F483-C519-2220-7C05C1C5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(Encryption)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73501-1C33-2D9F-0218-867347D8EF62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F8C9F9-9E28-443A-A7B9-CB3171ED9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47395"/>
            <a:ext cx="1034266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Now Performing EXOR Operation of Input with New Key Generated From Round 1.</a:t>
            </a: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BC480-0FD7-47D6-1354-A3FB5B7623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69"/>
          <a:stretch>
            <a:fillRect/>
          </a:stretch>
        </p:blipFill>
        <p:spPr>
          <a:xfrm>
            <a:off x="1219200" y="1995947"/>
            <a:ext cx="10137057" cy="468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72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8B93C-E2B3-08E9-B357-684CB680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3C33-A598-C3A5-20CE-9FA0996A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3DA8E3-1B84-717A-D528-E4C810F03577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DE8D679-F8DF-EC8E-7B1F-E03755AB3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193507"/>
            <a:ext cx="103426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All Round Key Values</a:t>
            </a: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51CC9C0F-9B92-E870-5CDB-8BBCAB81E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82" y="2302606"/>
            <a:ext cx="10198944" cy="369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88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1627D-B138-BC03-D2AF-751D76B2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AD3E-0F59-7E20-CC8E-F6930BF5E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(Decryption)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00FA08-C072-E5C1-4636-C49DD0ADE405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D862F85-F3D5-8CF8-553D-4161D446D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85172"/>
            <a:ext cx="103426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Round 1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Input Stage - (Encrypted Text </a:t>
            </a: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^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Round Key 10)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0E309-3477-570A-94BA-71F672705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72"/>
          <a:stretch>
            <a:fillRect/>
          </a:stretch>
        </p:blipFill>
        <p:spPr>
          <a:xfrm>
            <a:off x="1248697" y="1954698"/>
            <a:ext cx="10137058" cy="456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54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65963-71D4-566C-F5D3-A5473A14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25F3-F28A-CA36-4A71-C593BCBA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(Decryption)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1C4C81-0907-6D6E-41AE-10246683A692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9269E6-EEE7-8429-9261-2BD292436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85172"/>
            <a:ext cx="103426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Round 1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Inverse Shift Rows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7CF17-C661-CE7B-E0A9-E42079F8CE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7"/>
          <a:stretch>
            <a:fillRect/>
          </a:stretch>
        </p:blipFill>
        <p:spPr>
          <a:xfrm>
            <a:off x="1236407" y="1876039"/>
            <a:ext cx="10146890" cy="47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67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DC1AA-BA47-63B5-A781-95A15FA8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1C5B-714C-137F-0DF3-352F8501C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(Decryption)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19560-625D-E970-DF56-A57829B0DACB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045ADF1-2F93-353A-2103-820840E1D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85172"/>
            <a:ext cx="103426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Round 1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Inverse Sub Bytes Operation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7B367-8BDA-59C5-39ED-47BBB81296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7"/>
          <a:stretch>
            <a:fillRect/>
          </a:stretch>
        </p:blipFill>
        <p:spPr>
          <a:xfrm>
            <a:off x="1246239" y="1856374"/>
            <a:ext cx="10127226" cy="47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2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99606-76B3-545C-5C48-E52E66E51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B9EB-4276-A8DB-A2D4-9881A26A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(Decryption)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2627F-CEA4-13D5-4F90-F062B0329F25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C721C28-AD0C-D56E-F570-248BB01C5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85172"/>
            <a:ext cx="103426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Round 1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Performing EXOR Operation of output of Inverse Sub Bytes with Round Key 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21DE9-AEC3-7832-C51F-A06F276D2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7"/>
          <a:stretch>
            <a:fillRect/>
          </a:stretch>
        </p:blipFill>
        <p:spPr>
          <a:xfrm>
            <a:off x="1251155" y="1866207"/>
            <a:ext cx="10117393" cy="47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94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1D473-EE37-3D88-87DA-460BAB08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5F6D-6649-8E39-C4C1-00E372A0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(Decryption)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7B66EB-0B47-EDD1-B43C-C4C89FDC5D43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02A38DE-F69C-7427-F427-94FEDC253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20" y="1385172"/>
            <a:ext cx="103426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Round 1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Inverse Mix Columns Operation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90B91-4EB4-B3A5-0666-393E86DB79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9"/>
          <a:stretch>
            <a:fillRect/>
          </a:stretch>
        </p:blipFill>
        <p:spPr>
          <a:xfrm>
            <a:off x="1268360" y="1877961"/>
            <a:ext cx="10078065" cy="47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79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8BF79-5AA7-DA9C-4DE0-410523703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BA5F-646F-089C-DB5A-693924A6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 data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FCA28B-2324-FCF4-FDAD-5CE704BFB8C6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14792F-1967-6238-C084-9DFC21124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50"/>
          <a:stretch>
            <a:fillRect/>
          </a:stretch>
        </p:blipFill>
        <p:spPr>
          <a:xfrm>
            <a:off x="1219200" y="1506569"/>
            <a:ext cx="10107561" cy="501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49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627B8-A0F2-8CE0-193E-0ECE983D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751D-9C63-D934-C8D2-922A86615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520" y="10665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decrypted data  -  original data received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8D1BA6-37CB-0723-9B53-B1FA10BE5585}"/>
              </a:ext>
            </a:extLst>
          </p:cNvPr>
          <p:cNvSpPr/>
          <p:nvPr/>
        </p:nvSpPr>
        <p:spPr>
          <a:xfrm>
            <a:off x="1138520" y="1130709"/>
            <a:ext cx="9821555" cy="850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DEC7F0-62F4-3F27-8E34-4A98571182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6"/>
          <a:stretch>
            <a:fillRect/>
          </a:stretch>
        </p:blipFill>
        <p:spPr>
          <a:xfrm>
            <a:off x="1248698" y="1514166"/>
            <a:ext cx="10107560" cy="491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54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302</TotalTime>
  <Words>926</Words>
  <Application>Microsoft Office PowerPoint</Application>
  <PresentationFormat>Widescreen</PresentationFormat>
  <Paragraphs>116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Times New Roman</vt:lpstr>
      <vt:lpstr>Tw Cen MT</vt:lpstr>
      <vt:lpstr>Circuit</vt:lpstr>
      <vt:lpstr>School of Electronics Engineering (SENSE) </vt:lpstr>
      <vt:lpstr>Project Objective</vt:lpstr>
      <vt:lpstr>Introduction</vt:lpstr>
      <vt:lpstr>Methodology</vt:lpstr>
      <vt:lpstr>Architecture flow</vt:lpstr>
      <vt:lpstr>AES (Encryption And Decryption)</vt:lpstr>
      <vt:lpstr>S - BOX (Substitution Box)</vt:lpstr>
      <vt:lpstr>Sub Bytes Operation</vt:lpstr>
      <vt:lpstr>Shift Rows Operation</vt:lpstr>
      <vt:lpstr>Mix columns operation</vt:lpstr>
      <vt:lpstr>Key Expansion Operation</vt:lpstr>
      <vt:lpstr>Results (Encryption)</vt:lpstr>
      <vt:lpstr>Results (Encryption)</vt:lpstr>
      <vt:lpstr>Results (Encryption)</vt:lpstr>
      <vt:lpstr>Results (Encryption)</vt:lpstr>
      <vt:lpstr>Results (Encryption)</vt:lpstr>
      <vt:lpstr>Results (Encryption)</vt:lpstr>
      <vt:lpstr>Results</vt:lpstr>
      <vt:lpstr>Results (Decryption)</vt:lpstr>
      <vt:lpstr>Results (Decryption)</vt:lpstr>
      <vt:lpstr>Results (Decryption)</vt:lpstr>
      <vt:lpstr>Results (Decryption)</vt:lpstr>
      <vt:lpstr>Results (Decryption)</vt:lpstr>
      <vt:lpstr>Encrypted data </vt:lpstr>
      <vt:lpstr>decrypted data  -  original data received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Boga</dc:creator>
  <cp:lastModifiedBy>MANCHEM SAIKIRAN</cp:lastModifiedBy>
  <cp:revision>3</cp:revision>
  <dcterms:created xsi:type="dcterms:W3CDTF">2025-08-29T00:34:38Z</dcterms:created>
  <dcterms:modified xsi:type="dcterms:W3CDTF">2025-11-05T19:27:19Z</dcterms:modified>
</cp:coreProperties>
</file>